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lata" charset="1" panose="00000500000000000000"/>
      <p:regular r:id="rId15"/>
    </p:embeddedFont>
    <p:embeddedFont>
      <p:font typeface="Glacial Indifference" charset="1" panose="00000000000000000000"/>
      <p:regular r:id="rId16"/>
    </p:embeddedFont>
    <p:embeddedFont>
      <p:font typeface="Glacial Indifference Bold" charset="1" panose="00000800000000000000"/>
      <p:regular r:id="rId17"/>
    </p:embeddedFont>
    <p:embeddedFont>
      <p:font typeface="Open Sans Bold" charset="1" panose="020B0806030504020204"/>
      <p:regular r:id="rId18"/>
    </p:embeddedFont>
    <p:embeddedFont>
      <p:font typeface="Open Sans" charset="1" panose="020B060603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jpe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jpe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jpeg" Type="http://schemas.openxmlformats.org/officeDocument/2006/relationships/image"/><Relationship Id="rId4" Target="../media/image1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049497">
            <a:off x="5885078" y="-5488808"/>
            <a:ext cx="11102518" cy="10977615"/>
          </a:xfrm>
          <a:custGeom>
            <a:avLst/>
            <a:gdLst/>
            <a:ahLst/>
            <a:cxnLst/>
            <a:rect r="r" b="b" t="t" l="l"/>
            <a:pathLst>
              <a:path h="10977615" w="11102518">
                <a:moveTo>
                  <a:pt x="0" y="0"/>
                </a:moveTo>
                <a:lnTo>
                  <a:pt x="11102518" y="0"/>
                </a:lnTo>
                <a:lnTo>
                  <a:pt x="11102518" y="10977616"/>
                </a:lnTo>
                <a:lnTo>
                  <a:pt x="0" y="10977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436337" y="0"/>
            <a:ext cx="6851663" cy="10287000"/>
          </a:xfrm>
          <a:custGeom>
            <a:avLst/>
            <a:gdLst/>
            <a:ahLst/>
            <a:cxnLst/>
            <a:rect r="r" b="b" t="t" l="l"/>
            <a:pathLst>
              <a:path h="10287000" w="6851663">
                <a:moveTo>
                  <a:pt x="0" y="0"/>
                </a:moveTo>
                <a:lnTo>
                  <a:pt x="6851663" y="0"/>
                </a:lnTo>
                <a:lnTo>
                  <a:pt x="685166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" t="0" r="-1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212077" y="2785076"/>
            <a:ext cx="11102518" cy="10977615"/>
          </a:xfrm>
          <a:custGeom>
            <a:avLst/>
            <a:gdLst/>
            <a:ahLst/>
            <a:cxnLst/>
            <a:rect r="r" b="b" t="t" l="l"/>
            <a:pathLst>
              <a:path h="10977615" w="11102518">
                <a:moveTo>
                  <a:pt x="0" y="0"/>
                </a:moveTo>
                <a:lnTo>
                  <a:pt x="11102518" y="0"/>
                </a:lnTo>
                <a:lnTo>
                  <a:pt x="11102518" y="10977615"/>
                </a:lnTo>
                <a:lnTo>
                  <a:pt x="0" y="109776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149705" y="3368058"/>
            <a:ext cx="47625" cy="3371726"/>
            <a:chOff x="0" y="0"/>
            <a:chExt cx="12543" cy="8880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888027"/>
            </a:xfrm>
            <a:custGeom>
              <a:avLst/>
              <a:gdLst/>
              <a:ahLst/>
              <a:cxnLst/>
              <a:rect r="r" b="b" t="t" l="l"/>
              <a:pathLst>
                <a:path h="888027" w="12543">
                  <a:moveTo>
                    <a:pt x="0" y="0"/>
                  </a:moveTo>
                  <a:lnTo>
                    <a:pt x="12543" y="0"/>
                  </a:lnTo>
                  <a:lnTo>
                    <a:pt x="12543" y="888027"/>
                  </a:lnTo>
                  <a:lnTo>
                    <a:pt x="0" y="8880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543" cy="926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604183"/>
            <a:ext cx="3893053" cy="1180893"/>
          </a:xfrm>
          <a:custGeom>
            <a:avLst/>
            <a:gdLst/>
            <a:ahLst/>
            <a:cxnLst/>
            <a:rect r="r" b="b" t="t" l="l"/>
            <a:pathLst>
              <a:path h="1180893" w="3893053">
                <a:moveTo>
                  <a:pt x="0" y="0"/>
                </a:moveTo>
                <a:lnTo>
                  <a:pt x="3893053" y="0"/>
                </a:lnTo>
                <a:lnTo>
                  <a:pt x="3893053" y="1180893"/>
                </a:lnTo>
                <a:lnTo>
                  <a:pt x="0" y="1180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16336" y="3263283"/>
            <a:ext cx="9704692" cy="96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93"/>
              </a:lnSpc>
              <a:spcBef>
                <a:spcPct val="0"/>
              </a:spcBef>
            </a:pPr>
            <a:r>
              <a:rPr lang="en-US" sz="5638" spc="608">
                <a:solidFill>
                  <a:srgbClr val="FFFFFF"/>
                </a:solidFill>
                <a:latin typeface="Alata"/>
                <a:ea typeface="Alata"/>
                <a:cs typeface="Alata"/>
                <a:sym typeface="Alata"/>
              </a:rPr>
              <a:t>HACKATON INTERHACK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6336" y="4142341"/>
            <a:ext cx="9010915" cy="1579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902"/>
              </a:lnSpc>
              <a:spcBef>
                <a:spcPct val="0"/>
              </a:spcBef>
            </a:pPr>
            <a:r>
              <a:rPr lang="en-US" sz="9215" spc="995">
                <a:solidFill>
                  <a:srgbClr val="FFFFFF"/>
                </a:solidFill>
                <a:latin typeface="Alata"/>
                <a:ea typeface="Alata"/>
                <a:cs typeface="Alata"/>
                <a:sym typeface="Alata"/>
              </a:rPr>
              <a:t>INIBSA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6336" y="5764136"/>
            <a:ext cx="7597973" cy="480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74"/>
              </a:lnSpc>
              <a:spcBef>
                <a:spcPct val="0"/>
              </a:spcBef>
            </a:pPr>
            <a:r>
              <a:rPr lang="en-US" sz="2838" spc="306">
                <a:solidFill>
                  <a:srgbClr val="FFFFFF"/>
                </a:solidFill>
                <a:latin typeface="Alata"/>
                <a:ea typeface="Alata"/>
                <a:cs typeface="Alata"/>
                <a:sym typeface="Alata"/>
              </a:rPr>
              <a:t>Grup Mondonguitos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23137" y="1914527"/>
            <a:ext cx="6349525" cy="109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85"/>
              </a:lnSpc>
              <a:spcBef>
                <a:spcPct val="0"/>
              </a:spcBef>
            </a:pPr>
            <a:r>
              <a:rPr lang="en-US" sz="6417" spc="417">
                <a:solidFill>
                  <a:srgbClr val="FFFFFF"/>
                </a:solidFill>
                <a:latin typeface="Alata"/>
                <a:ea typeface="Alata"/>
                <a:cs typeface="Alata"/>
                <a:sym typeface="Alata"/>
              </a:rPr>
              <a:t>Contenido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850751" y="-2824344"/>
            <a:ext cx="7793769" cy="7706089"/>
          </a:xfrm>
          <a:custGeom>
            <a:avLst/>
            <a:gdLst/>
            <a:ahLst/>
            <a:cxnLst/>
            <a:rect r="r" b="b" t="t" l="l"/>
            <a:pathLst>
              <a:path h="7706089" w="7793769">
                <a:moveTo>
                  <a:pt x="0" y="0"/>
                </a:moveTo>
                <a:lnTo>
                  <a:pt x="7793769" y="0"/>
                </a:lnTo>
                <a:lnTo>
                  <a:pt x="7793769" y="7706088"/>
                </a:lnTo>
                <a:lnTo>
                  <a:pt x="0" y="7706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5384350" y="2773216"/>
            <a:ext cx="11102518" cy="10977615"/>
          </a:xfrm>
          <a:custGeom>
            <a:avLst/>
            <a:gdLst/>
            <a:ahLst/>
            <a:cxnLst/>
            <a:rect r="r" b="b" t="t" l="l"/>
            <a:pathLst>
              <a:path h="10977615" w="11102518">
                <a:moveTo>
                  <a:pt x="0" y="0"/>
                </a:moveTo>
                <a:lnTo>
                  <a:pt x="11102518" y="0"/>
                </a:lnTo>
                <a:lnTo>
                  <a:pt x="11102518" y="10977615"/>
                </a:lnTo>
                <a:lnTo>
                  <a:pt x="0" y="109776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9698714" y="0"/>
            <a:ext cx="8603573" cy="10287000"/>
            <a:chOff x="0" y="0"/>
            <a:chExt cx="8603361" cy="102867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50" y="-127"/>
              <a:ext cx="8603411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8603411">
                  <a:moveTo>
                    <a:pt x="8603411" y="10251440"/>
                  </a:moveTo>
                  <a:cubicBezTo>
                    <a:pt x="8603411" y="10284587"/>
                    <a:pt x="8592743" y="10286873"/>
                    <a:pt x="8564930" y="10286873"/>
                  </a:cubicBezTo>
                  <a:cubicBezTo>
                    <a:pt x="5710351" y="10286238"/>
                    <a:pt x="2855899" y="10286238"/>
                    <a:pt x="1320" y="10286238"/>
                  </a:cubicBezTo>
                  <a:cubicBezTo>
                    <a:pt x="-2744" y="10272395"/>
                    <a:pt x="3606" y="10259822"/>
                    <a:pt x="6527" y="10246995"/>
                  </a:cubicBezTo>
                  <a:cubicBezTo>
                    <a:pt x="132003" y="9685401"/>
                    <a:pt x="257606" y="9123934"/>
                    <a:pt x="383463" y="8562467"/>
                  </a:cubicBezTo>
                  <a:cubicBezTo>
                    <a:pt x="562914" y="7761986"/>
                    <a:pt x="742746" y="6961632"/>
                    <a:pt x="922070" y="6161151"/>
                  </a:cubicBezTo>
                  <a:cubicBezTo>
                    <a:pt x="1143558" y="5172583"/>
                    <a:pt x="1364538" y="4184015"/>
                    <a:pt x="1585899" y="3195574"/>
                  </a:cubicBezTo>
                  <a:cubicBezTo>
                    <a:pt x="1810816" y="2191385"/>
                    <a:pt x="2035860" y="1187323"/>
                    <a:pt x="2261412" y="183261"/>
                  </a:cubicBezTo>
                  <a:cubicBezTo>
                    <a:pt x="2275128" y="122174"/>
                    <a:pt x="2283891" y="59690"/>
                    <a:pt x="2306116" y="635"/>
                  </a:cubicBezTo>
                  <a:cubicBezTo>
                    <a:pt x="4392472" y="635"/>
                    <a:pt x="6478828" y="635"/>
                    <a:pt x="8565184" y="0"/>
                  </a:cubicBezTo>
                  <a:cubicBezTo>
                    <a:pt x="8593505" y="0"/>
                    <a:pt x="8603157" y="3429"/>
                    <a:pt x="8603157" y="35814"/>
                  </a:cubicBezTo>
                  <a:cubicBezTo>
                    <a:pt x="8602395" y="3441065"/>
                    <a:pt x="8602395" y="6846316"/>
                    <a:pt x="8603411" y="10251440"/>
                  </a:cubicBezTo>
                  <a:close/>
                </a:path>
              </a:pathLst>
            </a:custGeom>
            <a:blipFill>
              <a:blip r:embed="rId4"/>
              <a:stretch>
                <a:fillRect l="-39675" t="0" r="-3967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61666" y="3282964"/>
            <a:ext cx="9086211" cy="52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3892" indent="-326946" lvl="1">
              <a:lnSpc>
                <a:spcPts val="4240"/>
              </a:lnSpc>
              <a:buFont typeface="Arial"/>
              <a:buChar char="•"/>
            </a:pPr>
            <a:r>
              <a:rPr lang="en-US" sz="3028" spc="215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Intro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47877" y="3282964"/>
            <a:ext cx="683851" cy="372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0"/>
              </a:lnSpc>
            </a:pPr>
            <a:r>
              <a:rPr lang="en-US" b="true" sz="3028" spc="21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</a:t>
            </a:r>
          </a:p>
          <a:p>
            <a:pPr algn="ctr">
              <a:lnSpc>
                <a:spcPts val="4240"/>
              </a:lnSpc>
            </a:pPr>
            <a:r>
              <a:rPr lang="en-US" b="true" sz="3028" spc="21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  <a:p>
            <a:pPr algn="ctr">
              <a:lnSpc>
                <a:spcPts val="4240"/>
              </a:lnSpc>
            </a:pPr>
            <a:r>
              <a:rPr lang="en-US" b="true" sz="3028" spc="21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  <a:p>
            <a:pPr algn="ctr">
              <a:lnSpc>
                <a:spcPts val="4240"/>
              </a:lnSpc>
            </a:pPr>
            <a:r>
              <a:rPr lang="en-US" b="true" sz="3028" spc="21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04</a:t>
            </a:r>
          </a:p>
          <a:p>
            <a:pPr algn="ctr">
              <a:lnSpc>
                <a:spcPts val="4240"/>
              </a:lnSpc>
            </a:pPr>
            <a:r>
              <a:rPr lang="en-US" b="true" sz="3028" spc="21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05</a:t>
            </a:r>
          </a:p>
          <a:p>
            <a:pPr algn="ctr">
              <a:lnSpc>
                <a:spcPts val="4240"/>
              </a:lnSpc>
            </a:pPr>
            <a:r>
              <a:rPr lang="en-US" b="true" sz="3028" spc="21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06</a:t>
            </a:r>
          </a:p>
          <a:p>
            <a:pPr algn="ctr" marL="0" indent="0" lvl="0">
              <a:lnSpc>
                <a:spcPts val="4240"/>
              </a:lnSpc>
            </a:pPr>
            <a:r>
              <a:rPr lang="en-US" b="true" sz="3028" spc="21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28700" y="6168477"/>
            <a:ext cx="5224066" cy="2907735"/>
            <a:chOff x="0" y="0"/>
            <a:chExt cx="13462000" cy="7493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80160" y="402590"/>
              <a:ext cx="10581640" cy="5863590"/>
            </a:xfrm>
            <a:custGeom>
              <a:avLst/>
              <a:gdLst/>
              <a:ahLst/>
              <a:cxnLst/>
              <a:rect r="r" b="b" t="t" l="l"/>
              <a:pathLst>
                <a:path h="5863590" w="10581640">
                  <a:moveTo>
                    <a:pt x="0" y="0"/>
                  </a:moveTo>
                  <a:lnTo>
                    <a:pt x="10581640" y="0"/>
                  </a:lnTo>
                  <a:lnTo>
                    <a:pt x="10581640" y="5863590"/>
                  </a:lnTo>
                  <a:lnTo>
                    <a:pt x="0" y="5863590"/>
                  </a:lnTo>
                  <a:close/>
                </a:path>
              </a:pathLst>
            </a:custGeom>
            <a:blipFill>
              <a:blip r:embed="rId2"/>
              <a:stretch>
                <a:fillRect l="-39341" t="-6865" r="-42365" b="-20922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62000" cy="7493000"/>
            </a:xfrm>
            <a:custGeom>
              <a:avLst/>
              <a:gdLst/>
              <a:ahLst/>
              <a:cxnLst/>
              <a:rect r="r" b="b" t="t" l="l"/>
              <a:pathLst>
                <a:path h="7493000" w="13462000">
                  <a:moveTo>
                    <a:pt x="0" y="0"/>
                  </a:moveTo>
                  <a:lnTo>
                    <a:pt x="13462000" y="0"/>
                  </a:lnTo>
                  <a:lnTo>
                    <a:pt x="13462000" y="7493000"/>
                  </a:lnTo>
                  <a:lnTo>
                    <a:pt x="0" y="7493000"/>
                  </a:lnTo>
                  <a:close/>
                </a:path>
              </a:pathLst>
            </a:custGeom>
          </p:spPr>
        </p:sp>
      </p:grpSp>
      <p:sp>
        <p:nvSpPr>
          <p:cNvPr name="TextBox 5" id="5"/>
          <p:cNvSpPr txBox="true"/>
          <p:nvPr/>
        </p:nvSpPr>
        <p:spPr>
          <a:xfrm rot="0">
            <a:off x="1266628" y="1231305"/>
            <a:ext cx="13781296" cy="109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85"/>
              </a:lnSpc>
              <a:spcBef>
                <a:spcPct val="0"/>
              </a:spcBef>
            </a:pPr>
            <a:r>
              <a:rPr lang="en-US" sz="6417" spc="417">
                <a:solidFill>
                  <a:srgbClr val="FFFFFF"/>
                </a:solidFill>
                <a:latin typeface="Alata"/>
                <a:ea typeface="Alata"/>
                <a:cs typeface="Alata"/>
                <a:sym typeface="Alata"/>
              </a:rPr>
              <a:t>Objetivos de la propuesta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6628" y="2695516"/>
            <a:ext cx="10549380" cy="27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1"/>
              </a:lnSpc>
            </a:pPr>
            <a:r>
              <a:rPr lang="en-US" sz="2622" spc="18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idea central: Hemos creado una herramienta inteligente que le dice a Inibsa exactamente a q</a:t>
            </a:r>
            <a:r>
              <a:rPr lang="en-US" sz="2622" spc="18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ué clientes debe llamar hoy. En lugar de mirar tablas infinitas, el gestor tiene un panel de control que prioriza las oportunidades de venta basándose en el comportamiento histórico de compra.</a:t>
            </a:r>
          </a:p>
          <a:p>
            <a:pPr algn="l">
              <a:lnSpc>
                <a:spcPts val="36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709920" y="6531555"/>
            <a:ext cx="10549380" cy="1362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71"/>
              </a:lnSpc>
            </a:pPr>
            <a:r>
              <a:rPr lang="en-US" sz="2622" spc="18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¿Por qué este método? Porque es directo y visual. Queríamos pa</a:t>
            </a:r>
            <a:r>
              <a:rPr lang="en-US" sz="2622" spc="18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sar del "dato puro" a la "acción inmediata" mediante una interfaz HTML fácil de usar.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049497">
            <a:off x="9981451" y="-6040601"/>
            <a:ext cx="11102518" cy="10977615"/>
          </a:xfrm>
          <a:custGeom>
            <a:avLst/>
            <a:gdLst/>
            <a:ahLst/>
            <a:cxnLst/>
            <a:rect r="r" b="b" t="t" l="l"/>
            <a:pathLst>
              <a:path h="10977615" w="11102518">
                <a:moveTo>
                  <a:pt x="0" y="0"/>
                </a:moveTo>
                <a:lnTo>
                  <a:pt x="11102519" y="0"/>
                </a:lnTo>
                <a:lnTo>
                  <a:pt x="11102519" y="10977615"/>
                </a:lnTo>
                <a:lnTo>
                  <a:pt x="0" y="109776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9049497">
            <a:off x="-5367328" y="8644585"/>
            <a:ext cx="11102518" cy="10977615"/>
          </a:xfrm>
          <a:custGeom>
            <a:avLst/>
            <a:gdLst/>
            <a:ahLst/>
            <a:cxnLst/>
            <a:rect r="r" b="b" t="t" l="l"/>
            <a:pathLst>
              <a:path h="10977615" w="11102518">
                <a:moveTo>
                  <a:pt x="0" y="0"/>
                </a:moveTo>
                <a:lnTo>
                  <a:pt x="11102518" y="0"/>
                </a:lnTo>
                <a:lnTo>
                  <a:pt x="11102518" y="10977615"/>
                </a:lnTo>
                <a:lnTo>
                  <a:pt x="0" y="109776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0" y="6286136"/>
            <a:ext cx="4876800" cy="3810000"/>
            <a:chOff x="0" y="0"/>
            <a:chExt cx="1284425" cy="10034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4425" cy="1003457"/>
            </a:xfrm>
            <a:custGeom>
              <a:avLst/>
              <a:gdLst/>
              <a:ahLst/>
              <a:cxnLst/>
              <a:rect r="r" b="b" t="t" l="l"/>
              <a:pathLst>
                <a:path h="1003457" w="1284425">
                  <a:moveTo>
                    <a:pt x="0" y="0"/>
                  </a:moveTo>
                  <a:lnTo>
                    <a:pt x="1284425" y="0"/>
                  </a:lnTo>
                  <a:lnTo>
                    <a:pt x="1284425" y="1003457"/>
                  </a:lnTo>
                  <a:lnTo>
                    <a:pt x="0" y="1003457"/>
                  </a:lnTo>
                  <a:close/>
                </a:path>
              </a:pathLst>
            </a:custGeom>
            <a:solidFill>
              <a:srgbClr val="01A4D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284425" cy="1060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191257" y="2751922"/>
            <a:ext cx="6815834" cy="181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1"/>
              </a:lnSpc>
            </a:pPr>
            <a:r>
              <a:rPr lang="en-US" sz="2622" spc="18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Para que esto funcione, no nos hem</a:t>
            </a:r>
            <a:r>
              <a:rPr lang="en-US" sz="2622" spc="18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os quedado en la superficie. Hemos desarrollado un script en Python que actúa como el cerebro de la solución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08526" y="1117005"/>
            <a:ext cx="13781296" cy="109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85"/>
              </a:lnSpc>
              <a:spcBef>
                <a:spcPct val="0"/>
              </a:spcBef>
            </a:pPr>
            <a:r>
              <a:rPr lang="en-US" sz="6417" spc="417">
                <a:solidFill>
                  <a:srgbClr val="FFFFFF"/>
                </a:solidFill>
                <a:latin typeface="Alata"/>
                <a:ea typeface="Alata"/>
                <a:cs typeface="Alata"/>
                <a:sym typeface="Alata"/>
              </a:rPr>
              <a:t>Propuesta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8892" y="6423096"/>
            <a:ext cx="4119017" cy="3190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4"/>
              </a:lnSpc>
              <a:spcBef>
                <a:spcPct val="0"/>
              </a:spcBef>
            </a:pPr>
            <a:r>
              <a:rPr lang="en-US" b="true" sz="2281" spc="162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Procesamiento Inteligente:</a:t>
            </a:r>
            <a:r>
              <a:rPr lang="en-US" sz="2281" spc="1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>
              <a:lnSpc>
                <a:spcPts val="3194"/>
              </a:lnSpc>
              <a:spcBef>
                <a:spcPct val="0"/>
              </a:spcBef>
            </a:pPr>
            <a:r>
              <a:rPr lang="en-US" sz="2281" spc="1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Este programa toma los datos brutos de Inibsa, los limpia y los resume para extraer solo lo que importa, potenciando la capacidad de análisis.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876800" y="6286136"/>
            <a:ext cx="4876800" cy="3810000"/>
            <a:chOff x="0" y="0"/>
            <a:chExt cx="1284425" cy="10034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4425" cy="1003457"/>
            </a:xfrm>
            <a:custGeom>
              <a:avLst/>
              <a:gdLst/>
              <a:ahLst/>
              <a:cxnLst/>
              <a:rect r="r" b="b" t="t" l="l"/>
              <a:pathLst>
                <a:path h="1003457" w="1284425">
                  <a:moveTo>
                    <a:pt x="0" y="0"/>
                  </a:moveTo>
                  <a:lnTo>
                    <a:pt x="1284425" y="0"/>
                  </a:lnTo>
                  <a:lnTo>
                    <a:pt x="1284425" y="1003457"/>
                  </a:lnTo>
                  <a:lnTo>
                    <a:pt x="0" y="1003457"/>
                  </a:lnTo>
                  <a:close/>
                </a:path>
              </a:pathLst>
            </a:custGeom>
            <a:solidFill>
              <a:srgbClr val="E7855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284425" cy="1060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581097" y="6423096"/>
            <a:ext cx="3810553" cy="2390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1"/>
              </a:lnSpc>
              <a:spcBef>
                <a:spcPct val="0"/>
              </a:spcBef>
            </a:pPr>
            <a:r>
              <a:rPr lang="en-US" b="true" sz="2279" spc="16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 Código a Interfaz:</a:t>
            </a:r>
            <a:r>
              <a:rPr lang="en-US" sz="2279" spc="16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Todo ese análisis complejo lo volcamos en una interfaz HTML (que podéis ver en nuestro GitHub).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753600" y="6286136"/>
            <a:ext cx="8743950" cy="3810000"/>
            <a:chOff x="0" y="0"/>
            <a:chExt cx="2302933" cy="10034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2933" cy="1003457"/>
            </a:xfrm>
            <a:custGeom>
              <a:avLst/>
              <a:gdLst/>
              <a:ahLst/>
              <a:cxnLst/>
              <a:rect r="r" b="b" t="t" l="l"/>
              <a:pathLst>
                <a:path h="1003457" w="2302933">
                  <a:moveTo>
                    <a:pt x="0" y="0"/>
                  </a:moveTo>
                  <a:lnTo>
                    <a:pt x="2302933" y="0"/>
                  </a:lnTo>
                  <a:lnTo>
                    <a:pt x="2302933" y="1003457"/>
                  </a:lnTo>
                  <a:lnTo>
                    <a:pt x="0" y="1003457"/>
                  </a:lnTo>
                  <a:close/>
                </a:path>
              </a:pathLst>
            </a:custGeom>
            <a:solidFill>
              <a:srgbClr val="E2633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302933" cy="1060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1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007091" y="6423096"/>
            <a:ext cx="4236968" cy="319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1"/>
              </a:lnSpc>
              <a:spcBef>
                <a:spcPct val="0"/>
              </a:spcBef>
            </a:pPr>
            <a:r>
              <a:rPr lang="en-US" b="true" sz="2279" spc="16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El objetivo: </a:t>
            </a:r>
            <a:r>
              <a:rPr lang="en-US" sz="2279" spc="16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Que el usuario final no vea líneas de código, sino una herramienta web clara donde la lógica de Python le dice directamente: "este cliente está en riesgo" o "aquí hay una oportunidad".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54355" y="0"/>
            <a:ext cx="9633645" cy="10287000"/>
          </a:xfrm>
          <a:custGeom>
            <a:avLst/>
            <a:gdLst/>
            <a:ahLst/>
            <a:cxnLst/>
            <a:rect r="r" b="b" t="t" l="l"/>
            <a:pathLst>
              <a:path h="10287000" w="9633645">
                <a:moveTo>
                  <a:pt x="0" y="0"/>
                </a:moveTo>
                <a:lnTo>
                  <a:pt x="9633645" y="0"/>
                </a:lnTo>
                <a:lnTo>
                  <a:pt x="963364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017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860225">
            <a:off x="-1665330" y="-2730134"/>
            <a:ext cx="5813961" cy="5748554"/>
          </a:xfrm>
          <a:custGeom>
            <a:avLst/>
            <a:gdLst/>
            <a:ahLst/>
            <a:cxnLst/>
            <a:rect r="r" b="b" t="t" l="l"/>
            <a:pathLst>
              <a:path h="5748554" w="5813961">
                <a:moveTo>
                  <a:pt x="0" y="0"/>
                </a:moveTo>
                <a:lnTo>
                  <a:pt x="5813961" y="0"/>
                </a:lnTo>
                <a:lnTo>
                  <a:pt x="5813961" y="5748554"/>
                </a:lnTo>
                <a:lnTo>
                  <a:pt x="0" y="5748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4567439" y="5066559"/>
            <a:ext cx="9379701" cy="9274179"/>
          </a:xfrm>
          <a:custGeom>
            <a:avLst/>
            <a:gdLst/>
            <a:ahLst/>
            <a:cxnLst/>
            <a:rect r="r" b="b" t="t" l="l"/>
            <a:pathLst>
              <a:path h="9274179" w="9379701">
                <a:moveTo>
                  <a:pt x="0" y="0"/>
                </a:moveTo>
                <a:lnTo>
                  <a:pt x="9379701" y="0"/>
                </a:lnTo>
                <a:lnTo>
                  <a:pt x="9379701" y="9274179"/>
                </a:lnTo>
                <a:lnTo>
                  <a:pt x="0" y="92741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836596" y="2927734"/>
            <a:ext cx="1804892" cy="426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1"/>
              </a:lnSpc>
              <a:spcBef>
                <a:spcPct val="0"/>
              </a:spcBef>
            </a:pPr>
            <a:r>
              <a:rPr lang="en-US" sz="2436" spc="158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rPr>
              <a:t>Integridad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1650" y="1607765"/>
            <a:ext cx="7799596" cy="3365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85"/>
              </a:lnSpc>
              <a:spcBef>
                <a:spcPct val="0"/>
              </a:spcBef>
            </a:pPr>
            <a:r>
              <a:rPr lang="en-US" sz="6417" spc="417">
                <a:solidFill>
                  <a:srgbClr val="FFFFFF"/>
                </a:solidFill>
                <a:latin typeface="Alata"/>
                <a:ea typeface="Alata"/>
                <a:cs typeface="Alata"/>
                <a:sym typeface="Alata"/>
              </a:rPr>
              <a:t>¿Por qué hemos escogido esta propuesta?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36596" y="5367583"/>
            <a:ext cx="7418551" cy="988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4"/>
              </a:lnSpc>
              <a:spcBef>
                <a:spcPct val="0"/>
              </a:spcBef>
            </a:pPr>
            <a:r>
              <a:rPr lang="en-US" sz="1881" spc="133">
                <a:solidFill>
                  <a:srgbClr val="19191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Lorem ipsum dolor sit amet, consectetur adipiscing elit. Fusce ut convallis nisi, at consequat turpis. In bibendum efficitur imperdiet. Fusce eu vestibulum augue, ac iaculis quam.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36596" y="4877332"/>
            <a:ext cx="5324901" cy="426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1"/>
              </a:lnSpc>
              <a:spcBef>
                <a:spcPct val="0"/>
              </a:spcBef>
            </a:pPr>
            <a:r>
              <a:rPr lang="en-US" sz="2436" spc="158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rPr>
              <a:t>Compromiso con el Cliente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06793" y="4934482"/>
            <a:ext cx="1205346" cy="1139467"/>
            <a:chOff x="0" y="0"/>
            <a:chExt cx="459054" cy="4339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9054" cy="433964"/>
            </a:xfrm>
            <a:custGeom>
              <a:avLst/>
              <a:gdLst/>
              <a:ahLst/>
              <a:cxnLst/>
              <a:rect r="r" b="b" t="t" l="l"/>
              <a:pathLst>
                <a:path h="433964" w="459054">
                  <a:moveTo>
                    <a:pt x="70653" y="0"/>
                  </a:moveTo>
                  <a:lnTo>
                    <a:pt x="388401" y="0"/>
                  </a:lnTo>
                  <a:cubicBezTo>
                    <a:pt x="407139" y="0"/>
                    <a:pt x="425110" y="7444"/>
                    <a:pt x="438360" y="20694"/>
                  </a:cubicBezTo>
                  <a:cubicBezTo>
                    <a:pt x="451610" y="33944"/>
                    <a:pt x="459054" y="51915"/>
                    <a:pt x="459054" y="70653"/>
                  </a:cubicBezTo>
                  <a:lnTo>
                    <a:pt x="459054" y="363311"/>
                  </a:lnTo>
                  <a:cubicBezTo>
                    <a:pt x="459054" y="402332"/>
                    <a:pt x="427421" y="433964"/>
                    <a:pt x="388401" y="433964"/>
                  </a:cubicBezTo>
                  <a:lnTo>
                    <a:pt x="70653" y="433964"/>
                  </a:lnTo>
                  <a:cubicBezTo>
                    <a:pt x="31632" y="433964"/>
                    <a:pt x="0" y="402332"/>
                    <a:pt x="0" y="363311"/>
                  </a:cubicBezTo>
                  <a:lnTo>
                    <a:pt x="0" y="70653"/>
                  </a:lnTo>
                  <a:cubicBezTo>
                    <a:pt x="0" y="31632"/>
                    <a:pt x="31632" y="0"/>
                    <a:pt x="70653" y="0"/>
                  </a:cubicBezTo>
                  <a:close/>
                </a:path>
              </a:pathLst>
            </a:custGeom>
            <a:solidFill>
              <a:srgbClr val="22211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59054" cy="472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5415208"/>
            <a:ext cx="9355079" cy="1806724"/>
            <a:chOff x="0" y="0"/>
            <a:chExt cx="3177177" cy="6136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77177" cy="613601"/>
            </a:xfrm>
            <a:custGeom>
              <a:avLst/>
              <a:gdLst/>
              <a:ahLst/>
              <a:cxnLst/>
              <a:rect r="r" b="b" t="t" l="l"/>
              <a:pathLst>
                <a:path h="613601" w="3177177">
                  <a:moveTo>
                    <a:pt x="9103" y="0"/>
                  </a:moveTo>
                  <a:lnTo>
                    <a:pt x="3168074" y="0"/>
                  </a:lnTo>
                  <a:cubicBezTo>
                    <a:pt x="3170488" y="0"/>
                    <a:pt x="3172804" y="959"/>
                    <a:pt x="3174511" y="2666"/>
                  </a:cubicBezTo>
                  <a:cubicBezTo>
                    <a:pt x="3176218" y="4373"/>
                    <a:pt x="3177177" y="6689"/>
                    <a:pt x="3177177" y="9103"/>
                  </a:cubicBezTo>
                  <a:lnTo>
                    <a:pt x="3177177" y="604497"/>
                  </a:lnTo>
                  <a:cubicBezTo>
                    <a:pt x="3177177" y="609525"/>
                    <a:pt x="3173101" y="613601"/>
                    <a:pt x="3168074" y="613601"/>
                  </a:cubicBezTo>
                  <a:lnTo>
                    <a:pt x="9103" y="613601"/>
                  </a:lnTo>
                  <a:cubicBezTo>
                    <a:pt x="6689" y="613601"/>
                    <a:pt x="4373" y="612641"/>
                    <a:pt x="2666" y="610934"/>
                  </a:cubicBezTo>
                  <a:cubicBezTo>
                    <a:pt x="959" y="609227"/>
                    <a:pt x="0" y="606912"/>
                    <a:pt x="0" y="604497"/>
                  </a:cubicBezTo>
                  <a:lnTo>
                    <a:pt x="0" y="9103"/>
                  </a:lnTo>
                  <a:cubicBezTo>
                    <a:pt x="0" y="4076"/>
                    <a:pt x="4076" y="0"/>
                    <a:pt x="9103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177177" cy="651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996964" y="5635948"/>
            <a:ext cx="7418551" cy="136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981" spc="140">
                <a:solidFill>
                  <a:srgbClr val="19191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 necesario descentralizar el modelo comercial. </a:t>
            </a:r>
          </a:p>
          <a:p>
            <a:pPr algn="l">
              <a:lnSpc>
                <a:spcPts val="2774"/>
              </a:lnSpc>
            </a:pPr>
            <a:r>
              <a:rPr lang="en-US" sz="1981" spc="140">
                <a:solidFill>
                  <a:srgbClr val="19191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Hacer una adaptación territorial en España.</a:t>
            </a:r>
          </a:p>
          <a:p>
            <a:pPr algn="l">
              <a:lnSpc>
                <a:spcPts val="2774"/>
              </a:lnSpc>
            </a:pPr>
            <a:r>
              <a:rPr lang="en-US" sz="1981" spc="140">
                <a:solidFill>
                  <a:srgbClr val="19191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Bajar la depencia de los distribuidores. </a:t>
            </a:r>
          </a:p>
          <a:p>
            <a:pPr algn="l">
              <a:lnSpc>
                <a:spcPts val="2774"/>
              </a:lnSpc>
              <a:spcBef>
                <a:spcPct val="0"/>
              </a:spcBef>
            </a:pPr>
            <a:r>
              <a:rPr lang="en-US" sz="1981" spc="140">
                <a:solidFill>
                  <a:srgbClr val="19191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Aumentar la inteligencia local del mercado español.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33288" y="8235759"/>
            <a:ext cx="11699325" cy="1310604"/>
          </a:xfrm>
          <a:custGeom>
            <a:avLst/>
            <a:gdLst/>
            <a:ahLst/>
            <a:cxnLst/>
            <a:rect r="r" b="b" t="t" l="l"/>
            <a:pathLst>
              <a:path h="1310604" w="11699325">
                <a:moveTo>
                  <a:pt x="0" y="0"/>
                </a:moveTo>
                <a:lnTo>
                  <a:pt x="11699325" y="0"/>
                </a:lnTo>
                <a:lnTo>
                  <a:pt x="11699325" y="1310604"/>
                </a:lnTo>
                <a:lnTo>
                  <a:pt x="0" y="1310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301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583472">
            <a:off x="8729429" y="5586789"/>
            <a:ext cx="11240180" cy="5872994"/>
          </a:xfrm>
          <a:custGeom>
            <a:avLst/>
            <a:gdLst/>
            <a:ahLst/>
            <a:cxnLst/>
            <a:rect r="r" b="b" t="t" l="l"/>
            <a:pathLst>
              <a:path h="5872994" w="11240180">
                <a:moveTo>
                  <a:pt x="0" y="0"/>
                </a:moveTo>
                <a:lnTo>
                  <a:pt x="11240180" y="0"/>
                </a:lnTo>
                <a:lnTo>
                  <a:pt x="11240180" y="5872994"/>
                </a:lnTo>
                <a:lnTo>
                  <a:pt x="0" y="58729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7583472">
            <a:off x="-3522520" y="3329800"/>
            <a:ext cx="11240180" cy="5872994"/>
          </a:xfrm>
          <a:custGeom>
            <a:avLst/>
            <a:gdLst/>
            <a:ahLst/>
            <a:cxnLst/>
            <a:rect r="r" b="b" t="t" l="l"/>
            <a:pathLst>
              <a:path h="5872994" w="11240180">
                <a:moveTo>
                  <a:pt x="0" y="0"/>
                </a:moveTo>
                <a:lnTo>
                  <a:pt x="11240179" y="0"/>
                </a:lnTo>
                <a:lnTo>
                  <a:pt x="11240179" y="5872994"/>
                </a:lnTo>
                <a:lnTo>
                  <a:pt x="0" y="58729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18427722" cy="6266297"/>
          </a:xfrm>
          <a:custGeom>
            <a:avLst/>
            <a:gdLst/>
            <a:ahLst/>
            <a:cxnLst/>
            <a:rect r="r" b="b" t="t" l="l"/>
            <a:pathLst>
              <a:path h="6266297" w="18427722">
                <a:moveTo>
                  <a:pt x="0" y="0"/>
                </a:moveTo>
                <a:lnTo>
                  <a:pt x="18427722" y="0"/>
                </a:lnTo>
                <a:lnTo>
                  <a:pt x="18427722" y="6266297"/>
                </a:lnTo>
                <a:lnTo>
                  <a:pt x="0" y="62662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8269" r="0" b="-5765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33288" y="1889750"/>
            <a:ext cx="11821423" cy="6646089"/>
          </a:xfrm>
          <a:custGeom>
            <a:avLst/>
            <a:gdLst/>
            <a:ahLst/>
            <a:cxnLst/>
            <a:rect r="r" b="b" t="t" l="l"/>
            <a:pathLst>
              <a:path h="6646089" w="11821423">
                <a:moveTo>
                  <a:pt x="0" y="0"/>
                </a:moveTo>
                <a:lnTo>
                  <a:pt x="11821424" y="0"/>
                </a:lnTo>
                <a:lnTo>
                  <a:pt x="11821424" y="6646089"/>
                </a:lnTo>
                <a:lnTo>
                  <a:pt x="0" y="66460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38481" y="2838911"/>
            <a:ext cx="10411038" cy="119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64"/>
              </a:lnSpc>
              <a:spcBef>
                <a:spcPct val="0"/>
              </a:spcBef>
            </a:pPr>
            <a:r>
              <a:rPr lang="en-US" sz="6974">
                <a:solidFill>
                  <a:srgbClr val="FFFFFF"/>
                </a:solidFill>
                <a:latin typeface="Alata"/>
                <a:ea typeface="Alata"/>
                <a:cs typeface="Alata"/>
                <a:sym typeface="Alata"/>
              </a:rPr>
              <a:t>Nuestro diferencial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690206" y="3185375"/>
            <a:ext cx="5364505" cy="5717703"/>
          </a:xfrm>
          <a:custGeom>
            <a:avLst/>
            <a:gdLst/>
            <a:ahLst/>
            <a:cxnLst/>
            <a:rect r="r" b="b" t="t" l="l"/>
            <a:pathLst>
              <a:path h="5717703" w="5364505">
                <a:moveTo>
                  <a:pt x="0" y="0"/>
                </a:moveTo>
                <a:lnTo>
                  <a:pt x="5364506" y="0"/>
                </a:lnTo>
                <a:lnTo>
                  <a:pt x="5364506" y="5717703"/>
                </a:lnTo>
                <a:lnTo>
                  <a:pt x="0" y="57177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61565" b="-49879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4416621" y="4422745"/>
            <a:ext cx="9454758" cy="230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4"/>
              </a:lnSpc>
            </a:pPr>
            <a:r>
              <a:rPr lang="en-US" sz="3331" spc="23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usamos los datos solo para ver “ventas”. Si no que a través del análisis territorial proponemos crear inteligencia comercial dinámica.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288367">
            <a:off x="-5349339" y="175344"/>
            <a:ext cx="13553399" cy="7081651"/>
          </a:xfrm>
          <a:custGeom>
            <a:avLst/>
            <a:gdLst/>
            <a:ahLst/>
            <a:cxnLst/>
            <a:rect r="r" b="b" t="t" l="l"/>
            <a:pathLst>
              <a:path h="7081651" w="13553399">
                <a:moveTo>
                  <a:pt x="0" y="0"/>
                </a:moveTo>
                <a:lnTo>
                  <a:pt x="13553399" y="0"/>
                </a:lnTo>
                <a:lnTo>
                  <a:pt x="13553399" y="7081652"/>
                </a:lnTo>
                <a:lnTo>
                  <a:pt x="0" y="7081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66050" y="1028700"/>
            <a:ext cx="5148157" cy="7722235"/>
            <a:chOff x="0" y="0"/>
            <a:chExt cx="6350000" cy="952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4"/>
              <a:stretch>
                <a:fillRect l="-50000" t="0" r="-5000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09140" y="8368876"/>
            <a:ext cx="4448862" cy="889424"/>
            <a:chOff x="0" y="0"/>
            <a:chExt cx="1171717" cy="2342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1717" cy="234252"/>
            </a:xfrm>
            <a:custGeom>
              <a:avLst/>
              <a:gdLst/>
              <a:ahLst/>
              <a:cxnLst/>
              <a:rect r="r" b="b" t="t" l="l"/>
              <a:pathLst>
                <a:path h="234252" w="1171717">
                  <a:moveTo>
                    <a:pt x="38284" y="0"/>
                  </a:moveTo>
                  <a:lnTo>
                    <a:pt x="1133432" y="0"/>
                  </a:lnTo>
                  <a:cubicBezTo>
                    <a:pt x="1154576" y="0"/>
                    <a:pt x="1171717" y="17141"/>
                    <a:pt x="1171717" y="38284"/>
                  </a:cubicBezTo>
                  <a:lnTo>
                    <a:pt x="1171717" y="195967"/>
                  </a:lnTo>
                  <a:cubicBezTo>
                    <a:pt x="1171717" y="206121"/>
                    <a:pt x="1167683" y="215859"/>
                    <a:pt x="1160503" y="223038"/>
                  </a:cubicBezTo>
                  <a:cubicBezTo>
                    <a:pt x="1153324" y="230218"/>
                    <a:pt x="1143586" y="234252"/>
                    <a:pt x="1133432" y="234252"/>
                  </a:cubicBezTo>
                  <a:lnTo>
                    <a:pt x="38284" y="234252"/>
                  </a:lnTo>
                  <a:cubicBezTo>
                    <a:pt x="28131" y="234252"/>
                    <a:pt x="18393" y="230218"/>
                    <a:pt x="11213" y="223038"/>
                  </a:cubicBezTo>
                  <a:cubicBezTo>
                    <a:pt x="4034" y="215859"/>
                    <a:pt x="0" y="206121"/>
                    <a:pt x="0" y="195967"/>
                  </a:cubicBezTo>
                  <a:lnTo>
                    <a:pt x="0" y="38284"/>
                  </a:lnTo>
                  <a:cubicBezTo>
                    <a:pt x="0" y="28131"/>
                    <a:pt x="4034" y="18393"/>
                    <a:pt x="11213" y="11213"/>
                  </a:cubicBezTo>
                  <a:cubicBezTo>
                    <a:pt x="18393" y="4034"/>
                    <a:pt x="28131" y="0"/>
                    <a:pt x="38284" y="0"/>
                  </a:cubicBezTo>
                  <a:close/>
                </a:path>
              </a:pathLst>
            </a:custGeom>
            <a:solidFill>
              <a:srgbClr val="F2F4F5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71717" cy="272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8"/>
                </a:lnSpc>
                <a:spcBef>
                  <a:spcPct val="0"/>
                </a:spcBef>
              </a:pPr>
              <a:r>
                <a:rPr lang="en-US" sz="1906" spc="135" strike="noStrike" u="none">
                  <a:solidFill>
                    <a:srgbClr val="1A1A1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Ubicación: Calle Cualquiera 123, Cualquier Lugar, CP: 12345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569450" y="5445029"/>
            <a:ext cx="9379701" cy="9274179"/>
          </a:xfrm>
          <a:custGeom>
            <a:avLst/>
            <a:gdLst/>
            <a:ahLst/>
            <a:cxnLst/>
            <a:rect r="r" b="b" t="t" l="l"/>
            <a:pathLst>
              <a:path h="9274179" w="9379701">
                <a:moveTo>
                  <a:pt x="0" y="0"/>
                </a:moveTo>
                <a:lnTo>
                  <a:pt x="9379700" y="0"/>
                </a:lnTo>
                <a:lnTo>
                  <a:pt x="9379700" y="9274179"/>
                </a:lnTo>
                <a:lnTo>
                  <a:pt x="0" y="92741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6567463" y="3478703"/>
            <a:ext cx="8055463" cy="2584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227" indent="-230614" lvl="1">
              <a:lnSpc>
                <a:spcPts val="2990"/>
              </a:lnSpc>
              <a:buFont typeface="Arial"/>
              <a:buChar char="•"/>
            </a:pPr>
            <a:r>
              <a:rPr lang="en-US" sz="2136" spc="15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Variables: No solo miramos cuánto compran, sino cuándo fue la última vez y qué dejaron de pedir.  </a:t>
            </a:r>
          </a:p>
          <a:p>
            <a:pPr algn="l" marL="461227" indent="-230614" lvl="1">
              <a:lnSpc>
                <a:spcPts val="2990"/>
              </a:lnSpc>
              <a:buFont typeface="Arial"/>
              <a:buChar char="•"/>
            </a:pPr>
          </a:p>
          <a:p>
            <a:pPr algn="l" marL="461227" indent="-230614" lvl="1">
              <a:lnSpc>
                <a:spcPts val="2990"/>
              </a:lnSpc>
              <a:buFont typeface="Arial"/>
              <a:buChar char="•"/>
            </a:pPr>
            <a:r>
              <a:rPr lang="en-US" sz="2136" spc="15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"Consumo Oculto": Intentamos estimar qué parte del mercado se está llevando la competencia analizando los huecos en el historial del cliente.  </a:t>
            </a:r>
          </a:p>
          <a:p>
            <a:pPr algn="l">
              <a:lnSpc>
                <a:spcPts val="299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749134" y="1836610"/>
            <a:ext cx="4789732" cy="1110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7"/>
              </a:lnSpc>
              <a:spcBef>
                <a:spcPct val="0"/>
              </a:spcBef>
            </a:pPr>
          </a:p>
          <a:p>
            <a:pPr algn="ctr">
              <a:lnSpc>
                <a:spcPts val="4437"/>
              </a:lnSpc>
              <a:spcBef>
                <a:spcPct val="0"/>
              </a:spcBef>
            </a:pPr>
            <a:r>
              <a:rPr lang="en-US" b="true" sz="316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Corazón de los Datos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82708" y="5806855"/>
            <a:ext cx="5664774" cy="3108545"/>
          </a:xfrm>
          <a:custGeom>
            <a:avLst/>
            <a:gdLst/>
            <a:ahLst/>
            <a:cxnLst/>
            <a:rect r="r" b="b" t="t" l="l"/>
            <a:pathLst>
              <a:path h="3108545" w="5664774">
                <a:moveTo>
                  <a:pt x="0" y="0"/>
                </a:moveTo>
                <a:lnTo>
                  <a:pt x="5664774" y="0"/>
                </a:lnTo>
                <a:lnTo>
                  <a:pt x="5664774" y="3108545"/>
                </a:lnTo>
                <a:lnTo>
                  <a:pt x="0" y="3108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54911" y="5806855"/>
            <a:ext cx="4658582" cy="3108545"/>
          </a:xfrm>
          <a:custGeom>
            <a:avLst/>
            <a:gdLst/>
            <a:ahLst/>
            <a:cxnLst/>
            <a:rect r="r" b="b" t="t" l="l"/>
            <a:pathLst>
              <a:path h="3108545" w="4658582">
                <a:moveTo>
                  <a:pt x="0" y="0"/>
                </a:moveTo>
                <a:lnTo>
                  <a:pt x="4658582" y="0"/>
                </a:lnTo>
                <a:lnTo>
                  <a:pt x="4658582" y="3108545"/>
                </a:lnTo>
                <a:lnTo>
                  <a:pt x="0" y="3108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7250" y="5806855"/>
            <a:ext cx="4656996" cy="3108545"/>
          </a:xfrm>
          <a:custGeom>
            <a:avLst/>
            <a:gdLst/>
            <a:ahLst/>
            <a:cxnLst/>
            <a:rect r="r" b="b" t="t" l="l"/>
            <a:pathLst>
              <a:path h="3108545" w="4656996">
                <a:moveTo>
                  <a:pt x="0" y="0"/>
                </a:moveTo>
                <a:lnTo>
                  <a:pt x="4656996" y="0"/>
                </a:lnTo>
                <a:lnTo>
                  <a:pt x="4656996" y="3108545"/>
                </a:lnTo>
                <a:lnTo>
                  <a:pt x="0" y="31085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3036685"/>
            <a:ext cx="5898728" cy="2384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Demo y Output</a:t>
            </a:r>
          </a:p>
          <a:p>
            <a:pPr algn="ctr">
              <a:lnSpc>
                <a:spcPts val="2470"/>
              </a:lnSpc>
              <a:spcBef>
                <a:spcPct val="0"/>
              </a:spcBef>
            </a:pPr>
          </a:p>
          <a:p>
            <a:pPr algn="ctr">
              <a:lnSpc>
                <a:spcPts val="2470"/>
              </a:lnSpc>
              <a:spcBef>
                <a:spcPct val="0"/>
              </a:spcBef>
            </a:pPr>
            <a:r>
              <a:rPr lang="en-US" sz="176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Mapa de la "Pasta"</a:t>
            </a:r>
          </a:p>
          <a:p>
            <a:pPr algn="ctr">
              <a:lnSpc>
                <a:spcPts val="2470"/>
              </a:lnSpc>
              <a:spcBef>
                <a:spcPct val="0"/>
              </a:spcBef>
            </a:pPr>
            <a:r>
              <a:rPr lang="en-US" sz="176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Nuestra solución visual en HTML permite identificar el negocio de un vistazo: </a:t>
            </a:r>
          </a:p>
          <a:p>
            <a:pPr algn="ctr">
              <a:lnSpc>
                <a:spcPts val="2470"/>
              </a:lnSpc>
              <a:spcBef>
                <a:spcPct val="0"/>
              </a:spcBef>
            </a:pPr>
          </a:p>
          <a:p>
            <a:pPr algn="ctr">
              <a:lnSpc>
                <a:spcPts val="247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898728" y="2693670"/>
            <a:ext cx="5898728" cy="244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Mapa Visual de Oportunidades</a:t>
            </a:r>
          </a:p>
          <a:p>
            <a:pPr algn="ctr">
              <a:lnSpc>
                <a:spcPts val="2659"/>
              </a:lnSpc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 mapa interactivo por Comunidad</a:t>
            </a: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Autónomas. Es muy intuitivo: círculo grande = mucha dinero en juego; círculo pequeño = menor impacto.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82708" y="3255645"/>
            <a:ext cx="5898728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Interactividad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 pulsar en una comunidad, el círculo se expande y el sistema muestra el detalle de los clientes específicos que debemos recuperar.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873"/>
            <a:ext cx="9386423" cy="10316121"/>
            <a:chOff x="0" y="0"/>
            <a:chExt cx="2472144" cy="2717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2144" cy="2717003"/>
            </a:xfrm>
            <a:custGeom>
              <a:avLst/>
              <a:gdLst/>
              <a:ahLst/>
              <a:cxnLst/>
              <a:rect r="r" b="b" t="t" l="l"/>
              <a:pathLst>
                <a:path h="2717003" w="2472144">
                  <a:moveTo>
                    <a:pt x="0" y="0"/>
                  </a:moveTo>
                  <a:lnTo>
                    <a:pt x="2472144" y="0"/>
                  </a:lnTo>
                  <a:lnTo>
                    <a:pt x="2472144" y="2717003"/>
                  </a:lnTo>
                  <a:lnTo>
                    <a:pt x="0" y="2717003"/>
                  </a:lnTo>
                  <a:close/>
                </a:path>
              </a:pathLst>
            </a:custGeom>
            <a:solidFill>
              <a:srgbClr val="22211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72144" cy="27551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4508581" y="-691773"/>
            <a:ext cx="6544563" cy="3211121"/>
          </a:xfrm>
          <a:custGeom>
            <a:avLst/>
            <a:gdLst/>
            <a:ahLst/>
            <a:cxnLst/>
            <a:rect r="r" b="b" t="t" l="l"/>
            <a:pathLst>
              <a:path h="3211121" w="6544563">
                <a:moveTo>
                  <a:pt x="0" y="0"/>
                </a:moveTo>
                <a:lnTo>
                  <a:pt x="6544563" y="0"/>
                </a:lnTo>
                <a:lnTo>
                  <a:pt x="6544563" y="3211120"/>
                </a:lnTo>
                <a:lnTo>
                  <a:pt x="0" y="3211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101516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9386423" y="5873"/>
            <a:ext cx="9904095" cy="990409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979" y="0"/>
                  </a:moveTo>
                  <a:lnTo>
                    <a:pt x="794821" y="0"/>
                  </a:lnTo>
                  <a:cubicBezTo>
                    <a:pt x="804751" y="0"/>
                    <a:pt x="812800" y="8049"/>
                    <a:pt x="812800" y="17979"/>
                  </a:cubicBezTo>
                  <a:lnTo>
                    <a:pt x="812800" y="794821"/>
                  </a:lnTo>
                  <a:cubicBezTo>
                    <a:pt x="812800" y="804751"/>
                    <a:pt x="804751" y="812800"/>
                    <a:pt x="794821" y="812800"/>
                  </a:cubicBezTo>
                  <a:lnTo>
                    <a:pt x="17979" y="812800"/>
                  </a:lnTo>
                  <a:cubicBezTo>
                    <a:pt x="8049" y="812800"/>
                    <a:pt x="0" y="804751"/>
                    <a:pt x="0" y="794821"/>
                  </a:cubicBezTo>
                  <a:lnTo>
                    <a:pt x="0" y="17979"/>
                  </a:lnTo>
                  <a:cubicBezTo>
                    <a:pt x="0" y="8049"/>
                    <a:pt x="8049" y="0"/>
                    <a:pt x="17979" y="0"/>
                  </a:cubicBezTo>
                  <a:close/>
                </a:path>
              </a:pathLst>
            </a:custGeom>
            <a:blipFill>
              <a:blip r:embed="rId4"/>
              <a:stretch>
                <a:fillRect l="-52777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15577" y="1671530"/>
            <a:ext cx="8755268" cy="404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 Información Técnica y Funcionamiento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Arquitectura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Combinamos la potencia de cálculo de Python para el tratamiento de datos con la agilidad de HTML/JS para la visualización.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Día a día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El comercial llega por la mañana, abre la herramienta, ve qué círculos están creciendo en su zona y ya tiene su lista de llamadas lista para empezar.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DAHJQKO48E0</dc:identifier>
  <dcterms:modified xsi:type="dcterms:W3CDTF">2011-08-01T06:04:30Z</dcterms:modified>
  <cp:revision>1</cp:revision>
  <dc:title>inversión</dc:title>
</cp:coreProperties>
</file>